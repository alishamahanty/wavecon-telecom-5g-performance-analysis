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69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8288000" cy="10287000"/>
  <p:notesSz cx="6858000" cy="9144000"/>
  <p:embeddedFontLst>
    <p:embeddedFont>
      <p:font typeface="Gagalin" panose="020B0604020202020204" charset="0"/>
      <p:regular r:id="rId16"/>
    </p:embeddedFont>
    <p:embeddedFont>
      <p:font typeface="Garet Bold" panose="020B0604020202020204" charset="0"/>
      <p:regular r:id="rId17"/>
    </p:embeddedFont>
    <p:embeddedFont>
      <p:font typeface="Open Sans 1" panose="020B0604020202020204" charset="0"/>
      <p:regular r:id="rId18"/>
    </p:embeddedFont>
    <p:embeddedFont>
      <p:font typeface="Open Sans 2" panose="020B0604020202020204" charset="0"/>
      <p:regular r:id="rId19"/>
    </p:embeddedFont>
    <p:embeddedFont>
      <p:font typeface="Open Sans 2 Bold" panose="020B0604020202020204" charset="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548459" y="7320855"/>
            <a:ext cx="10752957" cy="1937445"/>
            <a:chOff x="0" y="0"/>
            <a:chExt cx="2832055" cy="51027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832054" cy="510274"/>
            </a:xfrm>
            <a:custGeom>
              <a:avLst/>
              <a:gdLst/>
              <a:ahLst/>
              <a:cxnLst/>
              <a:rect l="l" t="t" r="r" b="b"/>
              <a:pathLst>
                <a:path w="2832054" h="510274">
                  <a:moveTo>
                    <a:pt x="0" y="0"/>
                  </a:moveTo>
                  <a:lnTo>
                    <a:pt x="2832054" y="0"/>
                  </a:lnTo>
                  <a:lnTo>
                    <a:pt x="2832054" y="510274"/>
                  </a:lnTo>
                  <a:lnTo>
                    <a:pt x="0" y="510274"/>
                  </a:lnTo>
                  <a:close/>
                </a:path>
              </a:pathLst>
            </a:custGeom>
            <a:solidFill>
              <a:srgbClr val="EFEFEF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832055" cy="5674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00"/>
                </a:lnSpc>
              </a:pPr>
              <a:endParaRPr dirty="0"/>
            </a:p>
          </p:txBody>
        </p:sp>
      </p:grpSp>
      <p:sp>
        <p:nvSpPr>
          <p:cNvPr id="5" name="Freeform 5"/>
          <p:cNvSpPr/>
          <p:nvPr/>
        </p:nvSpPr>
        <p:spPr>
          <a:xfrm>
            <a:off x="7598044" y="876374"/>
            <a:ext cx="529089" cy="507925"/>
          </a:xfrm>
          <a:custGeom>
            <a:avLst/>
            <a:gdLst/>
            <a:ahLst/>
            <a:cxnLst/>
            <a:rect l="l" t="t" r="r" b="b"/>
            <a:pathLst>
              <a:path w="529089" h="507925">
                <a:moveTo>
                  <a:pt x="0" y="0"/>
                </a:moveTo>
                <a:lnTo>
                  <a:pt x="529089" y="0"/>
                </a:lnTo>
                <a:lnTo>
                  <a:pt x="529089" y="507925"/>
                </a:lnTo>
                <a:lnTo>
                  <a:pt x="0" y="5079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028700" y="971550"/>
            <a:ext cx="16230600" cy="4317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 u="none" strike="noStrike" dirty="0" err="1">
                <a:solidFill>
                  <a:srgbClr val="000000"/>
                </a:solidFill>
                <a:latin typeface="Gagalin"/>
                <a:ea typeface="Gagalin"/>
                <a:cs typeface="Gagalin"/>
                <a:sym typeface="Gagalin"/>
              </a:rPr>
              <a:t>avecon</a:t>
            </a:r>
            <a:r>
              <a:rPr lang="en-US" sz="2500" u="none" strike="noStrike">
                <a:solidFill>
                  <a:srgbClr val="000000"/>
                </a:solidFill>
                <a:latin typeface="Gagalin"/>
                <a:ea typeface="Gagalin"/>
                <a:cs typeface="Gagalin"/>
                <a:sym typeface="Gagalin"/>
              </a:rPr>
              <a:t> Telecom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753963" y="2392968"/>
            <a:ext cx="12780074" cy="2086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319"/>
              </a:lnSpc>
              <a:spcBef>
                <a:spcPct val="0"/>
              </a:spcBef>
            </a:pPr>
            <a:r>
              <a:rPr lang="en-US" sz="6499" b="1" u="none" strike="noStrike" spc="1169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5G LAUNCH </a:t>
            </a:r>
          </a:p>
          <a:p>
            <a:pPr marL="0" lvl="1" indent="0" algn="l">
              <a:lnSpc>
                <a:spcPts val="8319"/>
              </a:lnSpc>
              <a:spcBef>
                <a:spcPct val="0"/>
              </a:spcBef>
            </a:pPr>
            <a:r>
              <a:rPr lang="en-US" sz="6499" b="1" u="none" strike="noStrike" spc="1169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IMPACT ANALYSIS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753963" y="4711701"/>
            <a:ext cx="11548301" cy="4317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545454"/>
                </a:solidFill>
                <a:latin typeface="Open Sans 1"/>
                <a:ea typeface="Open Sans 1"/>
                <a:cs typeface="Open Sans 1"/>
                <a:sym typeface="Open Sans 1"/>
              </a:rPr>
              <a:t>Insight</a:t>
            </a:r>
            <a:r>
              <a:rPr lang="en-US" sz="2500" u="none" strike="noStrike">
                <a:solidFill>
                  <a:srgbClr val="545454"/>
                </a:solidFill>
                <a:latin typeface="Open Sans 1"/>
                <a:ea typeface="Open Sans 1"/>
                <a:cs typeface="Open Sans 1"/>
                <a:sym typeface="Open Sans 1"/>
              </a:rPr>
              <a:t>s into Wavecon’s Performance Post-5G Launch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653653" y="8753729"/>
            <a:ext cx="5900500" cy="435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00"/>
              </a:lnSpc>
            </a:pPr>
            <a:r>
              <a:rPr lang="en-US" sz="1900" spc="95">
                <a:solidFill>
                  <a:srgbClr val="000000"/>
                </a:solidFill>
                <a:latin typeface="Open Sans 1"/>
                <a:ea typeface="Open Sans 1"/>
                <a:cs typeface="Open Sans 1"/>
                <a:sym typeface="Open Sans 1"/>
              </a:rPr>
              <a:t>Internship Project | AtliQ Technologies Pvt. Ltd.</a:t>
            </a:r>
          </a:p>
        </p:txBody>
      </p:sp>
    </p:spTree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005525"/>
            <a:ext cx="16230600" cy="4743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840"/>
              </a:lnSpc>
              <a:spcBef>
                <a:spcPct val="0"/>
              </a:spcBef>
            </a:pPr>
            <a:r>
              <a:rPr lang="en-US" sz="3000" b="1" spc="300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Bus</a:t>
            </a:r>
            <a:r>
              <a:rPr lang="en-US" sz="3000" b="1" u="none" strike="noStrike" spc="300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iness Questions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454772" y="1965644"/>
            <a:ext cx="10996306" cy="4317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545454"/>
                </a:solidFill>
                <a:latin typeface="Open Sans 1"/>
                <a:ea typeface="Open Sans 1"/>
                <a:cs typeface="Open Sans 1"/>
                <a:sym typeface="Open Sans 1"/>
              </a:rPr>
              <a:t>Thi</a:t>
            </a:r>
            <a:r>
              <a:rPr lang="en-US" sz="2500" u="none" strike="noStrike">
                <a:solidFill>
                  <a:srgbClr val="545454"/>
                </a:solidFill>
                <a:latin typeface="Open Sans 1"/>
                <a:ea typeface="Open Sans 1"/>
                <a:cs typeface="Open Sans 1"/>
                <a:sym typeface="Open Sans 1"/>
              </a:rPr>
              <a:t>s analysis focuses on answering the following key business questions: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54772" y="2755269"/>
            <a:ext cx="15378456" cy="3433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85" lvl="1" indent="-248293" algn="l">
              <a:lnSpc>
                <a:spcPts val="4600"/>
              </a:lnSpc>
              <a:buAutoNum type="arabicPeriod"/>
            </a:pPr>
            <a:r>
              <a:rPr lang="en-US" sz="2300" b="1">
                <a:solidFill>
                  <a:srgbClr val="545454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What</a:t>
            </a:r>
            <a:r>
              <a:rPr lang="en-US" sz="2300" b="1" u="none" strike="noStrike">
                <a:solidFill>
                  <a:srgbClr val="545454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 was the impact of the 5G launch on Wavecon’s revenue?</a:t>
            </a:r>
          </a:p>
          <a:p>
            <a:pPr marL="496585" lvl="1" indent="-248293" algn="l">
              <a:lnSpc>
                <a:spcPts val="4600"/>
              </a:lnSpc>
              <a:buAutoNum type="arabicPeriod"/>
            </a:pPr>
            <a:r>
              <a:rPr lang="en-US" sz="2300" b="1" u="none" strike="noStrike">
                <a:solidFill>
                  <a:srgbClr val="545454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Which KPI underperformed after the 5G launch?</a:t>
            </a:r>
          </a:p>
          <a:p>
            <a:pPr marL="496585" lvl="1" indent="-248293" algn="l">
              <a:lnSpc>
                <a:spcPts val="4600"/>
              </a:lnSpc>
              <a:buAutoNum type="arabicPeriod"/>
            </a:pPr>
            <a:r>
              <a:rPr lang="en-US" sz="2300" b="1" u="none" strike="noStrike">
                <a:solidFill>
                  <a:srgbClr val="545454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Which plans performed well and which performed poorly after the 5G launch?</a:t>
            </a:r>
          </a:p>
          <a:p>
            <a:pPr marL="496585" lvl="1" indent="-248293" algn="l">
              <a:lnSpc>
                <a:spcPts val="4600"/>
              </a:lnSpc>
              <a:buAutoNum type="arabicPeriod"/>
            </a:pPr>
            <a:r>
              <a:rPr lang="en-US" sz="2300" b="1" u="none" strike="noStrike">
                <a:solidFill>
                  <a:srgbClr val="545454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Which plans were most affected by the 5G launch, and should they be continued or discontinued?</a:t>
            </a:r>
          </a:p>
          <a:p>
            <a:pPr marL="496585" lvl="1" indent="-248293" algn="l">
              <a:lnSpc>
                <a:spcPts val="4600"/>
              </a:lnSpc>
              <a:buAutoNum type="arabicPeriod"/>
            </a:pPr>
            <a:r>
              <a:rPr lang="en-US" sz="2300" b="1" u="none" strike="noStrike">
                <a:solidFill>
                  <a:srgbClr val="545454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Were any plans discontinued after the 5G launch, and what was the reason?</a:t>
            </a:r>
          </a:p>
          <a:p>
            <a:pPr marL="496585" lvl="1" indent="-248293" algn="l">
              <a:lnSpc>
                <a:spcPts val="4600"/>
              </a:lnSpc>
              <a:buAutoNum type="arabicPeriod"/>
            </a:pPr>
            <a:r>
              <a:rPr lang="en-US" sz="2300" b="1" u="none" strike="noStrike">
                <a:solidFill>
                  <a:srgbClr val="545454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How has Wavecon’s market share changed compared to competitors after the 5G launch?</a:t>
            </a:r>
          </a:p>
        </p:txBody>
      </p: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A6624-43F0-D71B-504D-131C66A5E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A2784619-E81C-2A2D-F255-0277784AEAC1}"/>
              </a:ext>
            </a:extLst>
          </p:cNvPr>
          <p:cNvSpPr txBox="1"/>
          <p:nvPr/>
        </p:nvSpPr>
        <p:spPr>
          <a:xfrm>
            <a:off x="1028700" y="1005525"/>
            <a:ext cx="16230600" cy="4809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840"/>
              </a:lnSpc>
              <a:spcBef>
                <a:spcPct val="0"/>
              </a:spcBef>
            </a:pPr>
            <a:r>
              <a:rPr lang="en-US" sz="3000" b="1" spc="300" dirty="0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Timeline – Before vs After 5g </a:t>
            </a:r>
            <a:endParaRPr lang="en-US" sz="3000" b="1" u="none" strike="noStrike" spc="300" dirty="0">
              <a:solidFill>
                <a:srgbClr val="545454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B3841B6C-2C1A-928B-91F3-5A87E1A4A905}"/>
              </a:ext>
            </a:extLst>
          </p:cNvPr>
          <p:cNvSpPr txBox="1"/>
          <p:nvPr/>
        </p:nvSpPr>
        <p:spPr>
          <a:xfrm>
            <a:off x="1576694" y="1965644"/>
            <a:ext cx="10996306" cy="1669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en-US" sz="2500" dirty="0">
                <a:solidFill>
                  <a:srgbClr val="545454"/>
                </a:solidFill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  <a:sym typeface="Open Sans 1"/>
              </a:rPr>
              <a:t>Before 5g launch: January 2022 – April 2022</a:t>
            </a: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en-US" sz="2500" u="none" strike="noStrike" dirty="0">
                <a:solidFill>
                  <a:srgbClr val="545454"/>
                </a:solidFill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  <a:sym typeface="Open Sans 1"/>
              </a:rPr>
              <a:t>5g launch: May 2022</a:t>
            </a: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en-US" sz="2500" dirty="0">
                <a:solidFill>
                  <a:srgbClr val="545454"/>
                </a:solidFill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  <a:sym typeface="Open Sans 1"/>
              </a:rPr>
              <a:t>After 5g launch: June 2022 – August 2022</a:t>
            </a:r>
            <a:endParaRPr lang="en-US" sz="2500" u="none" strike="noStrike" dirty="0">
              <a:solidFill>
                <a:srgbClr val="545454"/>
              </a:solidFill>
              <a:latin typeface="Open Sans 2" panose="020B0604020202020204" charset="0"/>
              <a:ea typeface="Open Sans 2" panose="020B0604020202020204" charset="0"/>
              <a:cs typeface="Open Sans 2" panose="020B0604020202020204" charset="0"/>
              <a:sym typeface="Open Sans 1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335DA2-60F6-C02D-A2F0-7B79A02727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07" t="18044" r="2226" b="27333"/>
          <a:stretch>
            <a:fillRect/>
          </a:stretch>
        </p:blipFill>
        <p:spPr>
          <a:xfrm>
            <a:off x="2514599" y="4379939"/>
            <a:ext cx="8684553" cy="9064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A8FFC58-1F84-4417-BA6D-14FFA0D57BFB}"/>
              </a:ext>
            </a:extLst>
          </p:cNvPr>
          <p:cNvSpPr txBox="1"/>
          <p:nvPr/>
        </p:nvSpPr>
        <p:spPr>
          <a:xfrm>
            <a:off x="11353800" y="4602352"/>
            <a:ext cx="2057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Before 5g</a:t>
            </a:r>
            <a:endParaRPr lang="en-IN" sz="2400" b="1" dirty="0">
              <a:latin typeface="Open Sans 2" panose="020B0604020202020204" charset="0"/>
              <a:ea typeface="Open Sans 2" panose="020B0604020202020204" charset="0"/>
              <a:cs typeface="Open Sans 2" panose="020B060402020202020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79CBBA0-0CEA-CEDF-6522-3F6D286606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7164214"/>
            <a:ext cx="8684552" cy="107618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9856C37-49E9-0E21-753D-42364CFEF319}"/>
              </a:ext>
            </a:extLst>
          </p:cNvPr>
          <p:cNvSpPr txBox="1"/>
          <p:nvPr/>
        </p:nvSpPr>
        <p:spPr>
          <a:xfrm>
            <a:off x="11353800" y="7471472"/>
            <a:ext cx="2057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After 5g</a:t>
            </a:r>
            <a:endParaRPr lang="en-IN" sz="2400" b="1" dirty="0">
              <a:latin typeface="Open Sans 2" panose="020B0604020202020204" charset="0"/>
              <a:ea typeface="Open Sans 2" panose="020B0604020202020204" charset="0"/>
              <a:cs typeface="Open Sans 2" panose="020B060402020202020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1E0228E-8C2B-47C3-D3F1-65CFA723DF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1960" y="5837208"/>
            <a:ext cx="2369829" cy="90649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730EDD5-1E06-FDAA-BC69-88BBB8B090EA}"/>
              </a:ext>
            </a:extLst>
          </p:cNvPr>
          <p:cNvSpPr txBox="1"/>
          <p:nvPr/>
        </p:nvSpPr>
        <p:spPr>
          <a:xfrm>
            <a:off x="11353800" y="6059621"/>
            <a:ext cx="2057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Open Sans 2" panose="020B0604020202020204" charset="0"/>
                <a:ea typeface="Open Sans 2" panose="020B0604020202020204" charset="0"/>
                <a:cs typeface="Open Sans 2" panose="020B0604020202020204" charset="0"/>
              </a:rPr>
              <a:t>5g Launch</a:t>
            </a:r>
            <a:endParaRPr lang="en-IN" sz="2400" b="1" dirty="0">
              <a:latin typeface="Open Sans 2" panose="020B0604020202020204" charset="0"/>
              <a:ea typeface="Open Sans 2" panose="020B0604020202020204" charset="0"/>
              <a:cs typeface="Open Sans 2" panose="020B0604020202020204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1F20CAE-7C3B-98FD-CF26-53AA93AFFF94}"/>
              </a:ext>
            </a:extLst>
          </p:cNvPr>
          <p:cNvCxnSpPr>
            <a:stCxn id="13" idx="3"/>
            <a:endCxn id="14" idx="1"/>
          </p:cNvCxnSpPr>
          <p:nvPr/>
        </p:nvCxnSpPr>
        <p:spPr>
          <a:xfrm>
            <a:off x="8041789" y="6290454"/>
            <a:ext cx="3312011" cy="0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3124962"/>
      </p:ext>
    </p:extLst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578456" y="4042297"/>
            <a:ext cx="8680844" cy="3634351"/>
          </a:xfrm>
          <a:custGeom>
            <a:avLst/>
            <a:gdLst/>
            <a:ahLst/>
            <a:cxnLst/>
            <a:rect l="l" t="t" r="r" b="b"/>
            <a:pathLst>
              <a:path w="8680844" h="3634351">
                <a:moveTo>
                  <a:pt x="0" y="0"/>
                </a:moveTo>
                <a:lnTo>
                  <a:pt x="8680844" y="0"/>
                </a:lnTo>
                <a:lnTo>
                  <a:pt x="8680844" y="3634351"/>
                </a:lnTo>
                <a:lnTo>
                  <a:pt x="0" y="363435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8578456" y="2591302"/>
            <a:ext cx="8680844" cy="987446"/>
          </a:xfrm>
          <a:custGeom>
            <a:avLst/>
            <a:gdLst/>
            <a:ahLst/>
            <a:cxnLst/>
            <a:rect l="l" t="t" r="r" b="b"/>
            <a:pathLst>
              <a:path w="8680844" h="987446">
                <a:moveTo>
                  <a:pt x="0" y="0"/>
                </a:moveTo>
                <a:lnTo>
                  <a:pt x="8680844" y="0"/>
                </a:lnTo>
                <a:lnTo>
                  <a:pt x="8680844" y="987446"/>
                </a:lnTo>
                <a:lnTo>
                  <a:pt x="0" y="9874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4686047" y="1009650"/>
            <a:ext cx="8915906" cy="462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740"/>
              </a:lnSpc>
              <a:spcBef>
                <a:spcPct val="0"/>
              </a:spcBef>
            </a:pPr>
            <a:r>
              <a:rPr lang="en-US" sz="2922" b="1" spc="292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1. </a:t>
            </a:r>
            <a:r>
              <a:rPr lang="en-US" sz="2922" b="1" u="none" strike="noStrike" spc="292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Impact of 5G Launch on Revenue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2524627"/>
            <a:ext cx="6765810" cy="4355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79" lvl="1" indent="-237490" algn="l">
              <a:lnSpc>
                <a:spcPts val="3519"/>
              </a:lnSpc>
              <a:buFont typeface="Arial"/>
              <a:buChar char="•"/>
            </a:pPr>
            <a:r>
              <a:rPr lang="en-US" sz="2199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Revenue remained stable after the 5G launch, declining slightly from </a:t>
            </a:r>
            <a:r>
              <a:rPr lang="en-US" sz="2199" b="1" u="none" strike="noStrike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₹16.0bn to ₹15.9bn (-0.5%)</a:t>
            </a:r>
            <a:r>
              <a:rPr lang="en-US" sz="2199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.</a:t>
            </a:r>
          </a:p>
          <a:p>
            <a:pPr algn="l">
              <a:lnSpc>
                <a:spcPts val="3519"/>
              </a:lnSpc>
            </a:pPr>
            <a:endParaRPr lang="en-US" sz="2199" u="none" strike="noStrike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  <a:p>
            <a:pPr marL="474979" lvl="1" indent="-237490" algn="l">
              <a:lnSpc>
                <a:spcPts val="3519"/>
              </a:lnSpc>
              <a:buFont typeface="Arial"/>
              <a:buChar char="•"/>
            </a:pPr>
            <a:r>
              <a:rPr lang="en-US" sz="2199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Revenue trends before and after the 5G launch show </a:t>
            </a:r>
            <a:r>
              <a:rPr lang="en-US" sz="2199" b="1" u="none" strike="noStrike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minimal variation</a:t>
            </a:r>
            <a:r>
              <a:rPr lang="en-US" sz="2199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, indicating limited short-term financial impact.</a:t>
            </a:r>
          </a:p>
          <a:p>
            <a:pPr algn="l">
              <a:lnSpc>
                <a:spcPts val="3519"/>
              </a:lnSpc>
            </a:pPr>
            <a:endParaRPr lang="en-US" sz="2199" u="none" strike="noStrike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  <a:p>
            <a:pPr marL="474979" lvl="1" indent="-237490" algn="l">
              <a:lnSpc>
                <a:spcPts val="3519"/>
              </a:lnSpc>
              <a:buFont typeface="Arial"/>
              <a:buChar char="•"/>
            </a:pPr>
            <a:r>
              <a:rPr lang="en-US" sz="2199" b="1" u="none" strike="noStrike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Early-stage 5G adoption</a:t>
            </a:r>
            <a:r>
              <a:rPr lang="en-US" sz="2199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may be delaying significant revenue growth.</a:t>
            </a:r>
          </a:p>
        </p:txBody>
      </p:sp>
    </p:spTree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943355" y="2713265"/>
            <a:ext cx="6698732" cy="5642394"/>
          </a:xfrm>
          <a:custGeom>
            <a:avLst/>
            <a:gdLst/>
            <a:ahLst/>
            <a:cxnLst/>
            <a:rect l="l" t="t" r="r" b="b"/>
            <a:pathLst>
              <a:path w="6698732" h="5642394">
                <a:moveTo>
                  <a:pt x="0" y="0"/>
                </a:moveTo>
                <a:lnTo>
                  <a:pt x="6698732" y="0"/>
                </a:lnTo>
                <a:lnTo>
                  <a:pt x="6698732" y="5642393"/>
                </a:lnTo>
                <a:lnTo>
                  <a:pt x="0" y="564239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202109" y="5287075"/>
            <a:ext cx="7436663" cy="1847829"/>
          </a:xfrm>
          <a:custGeom>
            <a:avLst/>
            <a:gdLst/>
            <a:ahLst/>
            <a:cxnLst/>
            <a:rect l="l" t="t" r="r" b="b"/>
            <a:pathLst>
              <a:path w="7436663" h="1847829">
                <a:moveTo>
                  <a:pt x="0" y="0"/>
                </a:moveTo>
                <a:lnTo>
                  <a:pt x="7436663" y="0"/>
                </a:lnTo>
                <a:lnTo>
                  <a:pt x="7436663" y="1847830"/>
                </a:lnTo>
                <a:lnTo>
                  <a:pt x="0" y="1847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4686047" y="1009650"/>
            <a:ext cx="8915906" cy="462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740"/>
              </a:lnSpc>
              <a:spcBef>
                <a:spcPct val="0"/>
              </a:spcBef>
            </a:pPr>
            <a:r>
              <a:rPr lang="en-US" sz="2922" b="1" spc="292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1. </a:t>
            </a:r>
            <a:r>
              <a:rPr lang="en-US" sz="2922" b="1" u="none" strike="noStrike" spc="292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Impact of 5G Launch on Revenue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735384" y="2627540"/>
            <a:ext cx="6765810" cy="1288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9"/>
              </a:lnSpc>
            </a:pPr>
            <a:r>
              <a:rPr lang="en-US" sz="2199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Revenue impact </a:t>
            </a:r>
            <a:r>
              <a:rPr lang="en-US" sz="2199" b="1" u="none" strike="noStrike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varies across cities</a:t>
            </a:r>
            <a:r>
              <a:rPr lang="en-US" sz="2199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, with some markets showing growth while others experienced declines after the 5G launch.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578456" y="2610352"/>
            <a:ext cx="8680844" cy="922340"/>
          </a:xfrm>
          <a:custGeom>
            <a:avLst/>
            <a:gdLst/>
            <a:ahLst/>
            <a:cxnLst/>
            <a:rect l="l" t="t" r="r" b="b"/>
            <a:pathLst>
              <a:path w="8680844" h="922340">
                <a:moveTo>
                  <a:pt x="0" y="0"/>
                </a:moveTo>
                <a:lnTo>
                  <a:pt x="8680844" y="0"/>
                </a:lnTo>
                <a:lnTo>
                  <a:pt x="8680844" y="922340"/>
                </a:lnTo>
                <a:lnTo>
                  <a:pt x="0" y="9223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8578456" y="4042297"/>
            <a:ext cx="8680844" cy="3529861"/>
          </a:xfrm>
          <a:custGeom>
            <a:avLst/>
            <a:gdLst/>
            <a:ahLst/>
            <a:cxnLst/>
            <a:rect l="l" t="t" r="r" b="b"/>
            <a:pathLst>
              <a:path w="8680844" h="3529861">
                <a:moveTo>
                  <a:pt x="0" y="0"/>
                </a:moveTo>
                <a:lnTo>
                  <a:pt x="8680844" y="0"/>
                </a:lnTo>
                <a:lnTo>
                  <a:pt x="8680844" y="3529861"/>
                </a:lnTo>
                <a:lnTo>
                  <a:pt x="0" y="352986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4232506" y="1009650"/>
            <a:ext cx="9822988" cy="462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740"/>
              </a:lnSpc>
              <a:spcBef>
                <a:spcPct val="0"/>
              </a:spcBef>
            </a:pPr>
            <a:r>
              <a:rPr lang="en-US" sz="2922" b="1" spc="292" dirty="0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2. Under</a:t>
            </a:r>
            <a:r>
              <a:rPr lang="en-US" sz="2922" b="1" u="none" strike="noStrike" spc="292" dirty="0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performing KPI After 5G Launch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8700" y="2524627"/>
            <a:ext cx="6765810" cy="47936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79" lvl="1" indent="-237490" algn="just">
              <a:lnSpc>
                <a:spcPts val="3519"/>
              </a:lnSpc>
              <a:buFont typeface="Arial"/>
              <a:buChar char="•"/>
            </a:pPr>
            <a:r>
              <a:rPr lang="en-US" sz="2199" b="1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Total Active Users</a:t>
            </a:r>
            <a:r>
              <a:rPr lang="en-US" sz="2199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declined from </a:t>
            </a:r>
            <a:r>
              <a:rPr lang="en-US" sz="2199" b="1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84.4M</a:t>
            </a:r>
            <a:r>
              <a:rPr lang="en-US" sz="2199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to </a:t>
            </a:r>
            <a:r>
              <a:rPr lang="en-US" sz="2199" b="1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77.4M</a:t>
            </a:r>
            <a:r>
              <a:rPr lang="en-US" sz="2199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, representing an </a:t>
            </a:r>
            <a:r>
              <a:rPr lang="en-US" sz="2199" b="1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8.28% decrease </a:t>
            </a:r>
            <a:r>
              <a:rPr lang="en-US" sz="2199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after the 5G launch.</a:t>
            </a:r>
          </a:p>
          <a:p>
            <a:pPr algn="just">
              <a:lnSpc>
                <a:spcPts val="3519"/>
              </a:lnSpc>
            </a:pPr>
            <a:endParaRPr lang="en-US" sz="2199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  <a:p>
            <a:pPr marL="474979" lvl="1" indent="-237490" algn="just">
              <a:lnSpc>
                <a:spcPts val="3519"/>
              </a:lnSpc>
              <a:buFont typeface="Arial"/>
              <a:buChar char="•"/>
            </a:pPr>
            <a:r>
              <a:rPr lang="en-US" sz="2199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Active users show a consistent </a:t>
            </a:r>
            <a:r>
              <a:rPr lang="en-US" sz="2199" b="1" u="none" strike="noStrike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downward trend</a:t>
            </a:r>
            <a:r>
              <a:rPr lang="en-US" sz="2199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after the 5G rollout, suggesting reduced engagement or slower adoption of 5G services.</a:t>
            </a:r>
          </a:p>
          <a:p>
            <a:pPr algn="just">
              <a:lnSpc>
                <a:spcPts val="3519"/>
              </a:lnSpc>
            </a:pPr>
            <a:endParaRPr lang="en-US" sz="2199" u="none" strike="noStrike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  <a:p>
            <a:pPr marL="474979" lvl="1" indent="-237490" algn="just">
              <a:lnSpc>
                <a:spcPts val="3519"/>
              </a:lnSpc>
              <a:buFont typeface="Arial"/>
              <a:buChar char="•"/>
            </a:pPr>
            <a:r>
              <a:rPr lang="en-US" sz="2199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Despite the 5G rollout, </a:t>
            </a:r>
            <a:r>
              <a:rPr lang="en-US" sz="2199" b="1" u="none" strike="noStrike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user engagement weakened</a:t>
            </a:r>
            <a:r>
              <a:rPr lang="en-US" sz="2199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, indicating the need for stronger customer acquisition and retention strategies.</a:t>
            </a:r>
          </a:p>
        </p:txBody>
      </p:sp>
    </p:spTree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207172" y="5760707"/>
            <a:ext cx="7567654" cy="1889034"/>
          </a:xfrm>
          <a:custGeom>
            <a:avLst/>
            <a:gdLst/>
            <a:ahLst/>
            <a:cxnLst/>
            <a:rect l="l" t="t" r="r" b="b"/>
            <a:pathLst>
              <a:path w="7567654" h="1889034">
                <a:moveTo>
                  <a:pt x="0" y="0"/>
                </a:moveTo>
                <a:lnTo>
                  <a:pt x="7567654" y="0"/>
                </a:lnTo>
                <a:lnTo>
                  <a:pt x="7567654" y="1889034"/>
                </a:lnTo>
                <a:lnTo>
                  <a:pt x="0" y="18890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0270857" y="2795892"/>
            <a:ext cx="6988443" cy="6133841"/>
          </a:xfrm>
          <a:custGeom>
            <a:avLst/>
            <a:gdLst/>
            <a:ahLst/>
            <a:cxnLst/>
            <a:rect l="l" t="t" r="r" b="b"/>
            <a:pathLst>
              <a:path w="6988443" h="6133841">
                <a:moveTo>
                  <a:pt x="0" y="0"/>
                </a:moveTo>
                <a:lnTo>
                  <a:pt x="6988443" y="0"/>
                </a:lnTo>
                <a:lnTo>
                  <a:pt x="6988443" y="6133840"/>
                </a:lnTo>
                <a:lnTo>
                  <a:pt x="0" y="613384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4232506" y="1009650"/>
            <a:ext cx="9822988" cy="462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740"/>
              </a:lnSpc>
              <a:spcBef>
                <a:spcPct val="0"/>
              </a:spcBef>
            </a:pPr>
            <a:r>
              <a:rPr lang="en-US" sz="2922" b="1" spc="292" dirty="0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2. Under</a:t>
            </a:r>
            <a:r>
              <a:rPr lang="en-US" sz="2922" b="1" u="none" strike="noStrike" spc="292" dirty="0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performing KPI After 5G Launch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61572" y="2710167"/>
            <a:ext cx="6745195" cy="1726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519"/>
              </a:lnSpc>
            </a:pPr>
            <a:r>
              <a:rPr lang="en-US" sz="2199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Most cities experienced a </a:t>
            </a:r>
            <a:r>
              <a:rPr lang="en-US" sz="2199" b="1" u="none" strike="noStrike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decline in active users</a:t>
            </a:r>
            <a:r>
              <a:rPr lang="en-US" sz="2199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, with only a few markets showing marginal growth, indicating uneven customer response to the 5G launch.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140926" y="7568520"/>
            <a:ext cx="4990936" cy="1517862"/>
          </a:xfrm>
          <a:custGeom>
            <a:avLst/>
            <a:gdLst/>
            <a:ahLst/>
            <a:cxnLst/>
            <a:rect l="l" t="t" r="r" b="b"/>
            <a:pathLst>
              <a:path w="4990936" h="1517862">
                <a:moveTo>
                  <a:pt x="0" y="0"/>
                </a:moveTo>
                <a:lnTo>
                  <a:pt x="4990936" y="0"/>
                </a:lnTo>
                <a:lnTo>
                  <a:pt x="4990936" y="1517862"/>
                </a:lnTo>
                <a:lnTo>
                  <a:pt x="0" y="15178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140926" y="5849073"/>
            <a:ext cx="4990936" cy="1479179"/>
          </a:xfrm>
          <a:custGeom>
            <a:avLst/>
            <a:gdLst/>
            <a:ahLst/>
            <a:cxnLst/>
            <a:rect l="l" t="t" r="r" b="b"/>
            <a:pathLst>
              <a:path w="4990936" h="1479179">
                <a:moveTo>
                  <a:pt x="0" y="0"/>
                </a:moveTo>
                <a:lnTo>
                  <a:pt x="4990936" y="0"/>
                </a:lnTo>
                <a:lnTo>
                  <a:pt x="4990936" y="1479179"/>
                </a:lnTo>
                <a:lnTo>
                  <a:pt x="0" y="14791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1140926" y="4103766"/>
            <a:ext cx="4990936" cy="1505039"/>
          </a:xfrm>
          <a:custGeom>
            <a:avLst/>
            <a:gdLst/>
            <a:ahLst/>
            <a:cxnLst/>
            <a:rect l="l" t="t" r="r" b="b"/>
            <a:pathLst>
              <a:path w="4990936" h="1505039">
                <a:moveTo>
                  <a:pt x="0" y="0"/>
                </a:moveTo>
                <a:lnTo>
                  <a:pt x="4990936" y="0"/>
                </a:lnTo>
                <a:lnTo>
                  <a:pt x="4990936" y="1505039"/>
                </a:lnTo>
                <a:lnTo>
                  <a:pt x="0" y="15050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1140926" y="2353287"/>
            <a:ext cx="4990936" cy="1510211"/>
          </a:xfrm>
          <a:custGeom>
            <a:avLst/>
            <a:gdLst/>
            <a:ahLst/>
            <a:cxnLst/>
            <a:rect l="l" t="t" r="r" b="b"/>
            <a:pathLst>
              <a:path w="4990936" h="1510211">
                <a:moveTo>
                  <a:pt x="0" y="0"/>
                </a:moveTo>
                <a:lnTo>
                  <a:pt x="4990936" y="0"/>
                </a:lnTo>
                <a:lnTo>
                  <a:pt x="4990936" y="1510211"/>
                </a:lnTo>
                <a:lnTo>
                  <a:pt x="0" y="15102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4232506" y="1009650"/>
            <a:ext cx="9822988" cy="462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740"/>
              </a:lnSpc>
              <a:spcBef>
                <a:spcPct val="0"/>
              </a:spcBef>
            </a:pPr>
            <a:r>
              <a:rPr lang="en-US" sz="2922" b="1" spc="292" dirty="0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3. Plan P</a:t>
            </a:r>
            <a:r>
              <a:rPr lang="en-US" sz="2922" b="1" u="none" strike="noStrike" spc="292" dirty="0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erformance After the 5G Launch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2267562"/>
            <a:ext cx="6765810" cy="6036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200"/>
              </a:lnSpc>
            </a:pPr>
            <a:r>
              <a:rPr lang="en-US" sz="2000" b="1" dirty="0">
                <a:solidFill>
                  <a:srgbClr val="693EB4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Plans Performing Well</a:t>
            </a:r>
          </a:p>
          <a:p>
            <a:pPr algn="just">
              <a:lnSpc>
                <a:spcPts val="3200"/>
              </a:lnSpc>
            </a:pPr>
            <a:endParaRPr lang="en-US" sz="2000" b="1" dirty="0">
              <a:solidFill>
                <a:srgbClr val="693EB4"/>
              </a:solidFill>
              <a:latin typeface="Open Sans 2 Bold"/>
              <a:ea typeface="Open Sans 2 Bold"/>
              <a:cs typeface="Open Sans 2 Bold"/>
              <a:sym typeface="Open Sans 2 Bold"/>
            </a:endParaRPr>
          </a:p>
          <a:p>
            <a:pPr marL="474979" lvl="1" indent="-237490" algn="just">
              <a:lnSpc>
                <a:spcPts val="3519"/>
              </a:lnSpc>
              <a:buFont typeface="Arial"/>
              <a:buChar char="•"/>
            </a:pPr>
            <a:r>
              <a:rPr lang="en-US" sz="2199" b="1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High-data</a:t>
            </a:r>
            <a:r>
              <a:rPr lang="en-US" sz="2199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plans saw strong revenue growth, driven by higher demand for larg</a:t>
            </a:r>
            <a:r>
              <a:rPr lang="en-US" sz="2199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e data packages post-5G.</a:t>
            </a:r>
          </a:p>
          <a:p>
            <a:pPr algn="just">
              <a:lnSpc>
                <a:spcPts val="3519"/>
              </a:lnSpc>
            </a:pPr>
            <a:endParaRPr lang="en-US" sz="2199" u="none" strike="noStrike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  <a:p>
            <a:pPr marL="474979" lvl="1" indent="-237490" algn="just">
              <a:lnSpc>
                <a:spcPts val="3519"/>
              </a:lnSpc>
              <a:buFont typeface="Arial"/>
              <a:buChar char="•"/>
            </a:pPr>
            <a:r>
              <a:rPr lang="en-US" sz="2199" b="1" u="none" strike="noStrike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Long-validity</a:t>
            </a:r>
            <a:r>
              <a:rPr lang="en-US" sz="2199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plans contributed significantly, with customers preferring stable, long-term options.</a:t>
            </a:r>
          </a:p>
          <a:p>
            <a:pPr algn="just">
              <a:lnSpc>
                <a:spcPts val="3519"/>
              </a:lnSpc>
            </a:pPr>
            <a:endParaRPr lang="en-US" sz="2199" u="none" strike="noStrike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  <a:p>
            <a:pPr marL="474979" lvl="1" indent="-237490" algn="just">
              <a:lnSpc>
                <a:spcPts val="3519"/>
              </a:lnSpc>
              <a:buFont typeface="Arial"/>
              <a:buChar char="•"/>
            </a:pPr>
            <a:r>
              <a:rPr lang="en-US" sz="2199" b="1" u="none" strike="noStrike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Premium data bundles </a:t>
            </a:r>
            <a:r>
              <a:rPr lang="en-US" sz="2199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gained popularity as 5G encouraged users to adopt higher data usage.</a:t>
            </a:r>
          </a:p>
          <a:p>
            <a:pPr algn="just">
              <a:lnSpc>
                <a:spcPts val="3519"/>
              </a:lnSpc>
            </a:pPr>
            <a:endParaRPr lang="en-US" sz="2199" u="none" strike="noStrike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</p:spTree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000083" y="5842361"/>
            <a:ext cx="4259217" cy="1318536"/>
          </a:xfrm>
          <a:custGeom>
            <a:avLst/>
            <a:gdLst/>
            <a:ahLst/>
            <a:cxnLst/>
            <a:rect l="l" t="t" r="r" b="b"/>
            <a:pathLst>
              <a:path w="4259217" h="1318536">
                <a:moveTo>
                  <a:pt x="0" y="0"/>
                </a:moveTo>
                <a:lnTo>
                  <a:pt x="4259217" y="0"/>
                </a:lnTo>
                <a:lnTo>
                  <a:pt x="4259217" y="1318535"/>
                </a:lnTo>
                <a:lnTo>
                  <a:pt x="0" y="131853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8329470" y="5842361"/>
            <a:ext cx="4543975" cy="1393857"/>
          </a:xfrm>
          <a:custGeom>
            <a:avLst/>
            <a:gdLst/>
            <a:ahLst/>
            <a:cxnLst/>
            <a:rect l="l" t="t" r="r" b="b"/>
            <a:pathLst>
              <a:path w="4543975" h="1393857">
                <a:moveTo>
                  <a:pt x="0" y="0"/>
                </a:moveTo>
                <a:lnTo>
                  <a:pt x="4543975" y="0"/>
                </a:lnTo>
                <a:lnTo>
                  <a:pt x="4543975" y="1393857"/>
                </a:lnTo>
                <a:lnTo>
                  <a:pt x="0" y="139385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000083" y="7462671"/>
            <a:ext cx="4259217" cy="1304822"/>
          </a:xfrm>
          <a:custGeom>
            <a:avLst/>
            <a:gdLst/>
            <a:ahLst/>
            <a:cxnLst/>
            <a:rect l="l" t="t" r="r" b="b"/>
            <a:pathLst>
              <a:path w="4259217" h="1304822">
                <a:moveTo>
                  <a:pt x="0" y="0"/>
                </a:moveTo>
                <a:lnTo>
                  <a:pt x="4259217" y="0"/>
                </a:lnTo>
                <a:lnTo>
                  <a:pt x="4259217" y="1304821"/>
                </a:lnTo>
                <a:lnTo>
                  <a:pt x="0" y="13048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329470" y="4223259"/>
            <a:ext cx="4543975" cy="1383357"/>
          </a:xfrm>
          <a:custGeom>
            <a:avLst/>
            <a:gdLst/>
            <a:ahLst/>
            <a:cxnLst/>
            <a:rect l="l" t="t" r="r" b="b"/>
            <a:pathLst>
              <a:path w="4543975" h="1383357">
                <a:moveTo>
                  <a:pt x="0" y="0"/>
                </a:moveTo>
                <a:lnTo>
                  <a:pt x="4543975" y="0"/>
                </a:lnTo>
                <a:lnTo>
                  <a:pt x="4543975" y="1383357"/>
                </a:lnTo>
                <a:lnTo>
                  <a:pt x="0" y="138335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3000083" y="4223259"/>
            <a:ext cx="4259217" cy="1316565"/>
          </a:xfrm>
          <a:custGeom>
            <a:avLst/>
            <a:gdLst/>
            <a:ahLst/>
            <a:cxnLst/>
            <a:rect l="l" t="t" r="r" b="b"/>
            <a:pathLst>
              <a:path w="4259217" h="1316565">
                <a:moveTo>
                  <a:pt x="0" y="0"/>
                </a:moveTo>
                <a:lnTo>
                  <a:pt x="4259217" y="0"/>
                </a:lnTo>
                <a:lnTo>
                  <a:pt x="4259217" y="1316565"/>
                </a:lnTo>
                <a:lnTo>
                  <a:pt x="0" y="13165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3000083" y="2629402"/>
            <a:ext cx="4259217" cy="1294943"/>
          </a:xfrm>
          <a:custGeom>
            <a:avLst/>
            <a:gdLst/>
            <a:ahLst/>
            <a:cxnLst/>
            <a:rect l="l" t="t" r="r" b="b"/>
            <a:pathLst>
              <a:path w="4259217" h="1294943">
                <a:moveTo>
                  <a:pt x="0" y="0"/>
                </a:moveTo>
                <a:lnTo>
                  <a:pt x="4259217" y="0"/>
                </a:lnTo>
                <a:lnTo>
                  <a:pt x="4259217" y="1294943"/>
                </a:lnTo>
                <a:lnTo>
                  <a:pt x="0" y="129494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8329470" y="2629402"/>
            <a:ext cx="4543975" cy="1359910"/>
          </a:xfrm>
          <a:custGeom>
            <a:avLst/>
            <a:gdLst/>
            <a:ahLst/>
            <a:cxnLst/>
            <a:rect l="l" t="t" r="r" b="b"/>
            <a:pathLst>
              <a:path w="4543975" h="1359910">
                <a:moveTo>
                  <a:pt x="0" y="0"/>
                </a:moveTo>
                <a:lnTo>
                  <a:pt x="4543975" y="0"/>
                </a:lnTo>
                <a:lnTo>
                  <a:pt x="4543975" y="1359910"/>
                </a:lnTo>
                <a:lnTo>
                  <a:pt x="0" y="13599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4232506" y="1009650"/>
            <a:ext cx="9822988" cy="462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740"/>
              </a:lnSpc>
              <a:spcBef>
                <a:spcPct val="0"/>
              </a:spcBef>
            </a:pPr>
            <a:r>
              <a:rPr lang="en-US" sz="2922" b="1" spc="292" dirty="0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3. Plan P</a:t>
            </a:r>
            <a:r>
              <a:rPr lang="en-US" sz="2922" b="1" u="none" strike="noStrike" spc="292" dirty="0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erformance After the 5G Launch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2543677"/>
            <a:ext cx="6765810" cy="5198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200"/>
              </a:lnSpc>
            </a:pPr>
            <a:r>
              <a:rPr lang="en-US" sz="2000" b="1" dirty="0">
                <a:solidFill>
                  <a:srgbClr val="693EB4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Plans Performing Poorly</a:t>
            </a:r>
          </a:p>
          <a:p>
            <a:pPr algn="just">
              <a:lnSpc>
                <a:spcPts val="3519"/>
              </a:lnSpc>
            </a:pPr>
            <a:endParaRPr lang="en-US" sz="2000" b="1" dirty="0">
              <a:solidFill>
                <a:srgbClr val="693EB4"/>
              </a:solidFill>
              <a:latin typeface="Open Sans 2 Bold"/>
              <a:ea typeface="Open Sans 2 Bold"/>
              <a:cs typeface="Open Sans 2 Bold"/>
              <a:sym typeface="Open Sans 2 Bold"/>
            </a:endParaRPr>
          </a:p>
          <a:p>
            <a:pPr marL="474979" lvl="1" indent="-237490" algn="just">
              <a:lnSpc>
                <a:spcPts val="3519"/>
              </a:lnSpc>
              <a:buFont typeface="Arial"/>
              <a:buChar char="•"/>
            </a:pPr>
            <a:r>
              <a:rPr lang="en-US" sz="2199" b="1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Low-data </a:t>
            </a:r>
            <a:r>
              <a:rPr lang="en-US" sz="2199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saw a decline in revenue, suggesting reduced dem</a:t>
            </a:r>
            <a:r>
              <a:rPr lang="en-US" sz="2199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and in the 5G era.</a:t>
            </a:r>
          </a:p>
          <a:p>
            <a:pPr algn="just">
              <a:lnSpc>
                <a:spcPts val="3519"/>
              </a:lnSpc>
            </a:pPr>
            <a:endParaRPr lang="en-US" sz="2199" u="none" strike="noStrike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  <a:p>
            <a:pPr marL="474979" lvl="1" indent="-237490" algn="just">
              <a:lnSpc>
                <a:spcPts val="3519"/>
              </a:lnSpc>
              <a:buFont typeface="Arial"/>
              <a:buChar char="•"/>
            </a:pPr>
            <a:r>
              <a:rPr lang="en-US" sz="2199" b="1" u="none" strike="noStrike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Short-term </a:t>
            </a:r>
            <a:r>
              <a:rPr lang="en-US" sz="2199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validity plans showed weak performance, with users shifting to longer-term options.</a:t>
            </a:r>
          </a:p>
          <a:p>
            <a:pPr algn="just">
              <a:lnSpc>
                <a:spcPts val="3519"/>
              </a:lnSpc>
            </a:pPr>
            <a:endParaRPr lang="en-US" sz="2199" u="none" strike="noStrike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  <a:p>
            <a:pPr marL="474979" lvl="1" indent="-237490" algn="just">
              <a:lnSpc>
                <a:spcPts val="3519"/>
              </a:lnSpc>
              <a:buFont typeface="Arial"/>
              <a:buChar char="•"/>
            </a:pPr>
            <a:r>
              <a:rPr lang="en-US" sz="2199" b="1" u="none" strike="noStrike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Small utility / top-up </a:t>
            </a:r>
            <a:r>
              <a:rPr lang="en-US" sz="2199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plans contributed little revenue, showing reduced relevance with 5G.</a:t>
            </a:r>
          </a:p>
          <a:p>
            <a:pPr algn="just">
              <a:lnSpc>
                <a:spcPts val="3519"/>
              </a:lnSpc>
            </a:pPr>
            <a:endParaRPr lang="en-US" sz="2199" u="none" strike="noStrike" dirty="0">
              <a:solidFill>
                <a:srgbClr val="000000"/>
              </a:solidFill>
              <a:latin typeface="Open Sans 2"/>
              <a:ea typeface="Open Sans 2"/>
              <a:cs typeface="Open Sans 2"/>
              <a:sym typeface="Open Sans 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232506" y="1009650"/>
            <a:ext cx="9822988" cy="462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740"/>
              </a:lnSpc>
              <a:spcBef>
                <a:spcPct val="0"/>
              </a:spcBef>
            </a:pPr>
            <a:r>
              <a:rPr lang="en-US" sz="2922" b="1" spc="292" dirty="0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4. M</a:t>
            </a:r>
            <a:r>
              <a:rPr lang="en-US" sz="2922" b="1" u="none" strike="noStrike" spc="292" dirty="0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ost Affected Plans by the 5G Launch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2553202"/>
            <a:ext cx="8115300" cy="2499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79"/>
              </a:lnSpc>
            </a:pPr>
            <a:r>
              <a:rPr lang="en-US" sz="1799" b="1" dirty="0">
                <a:solidFill>
                  <a:srgbClr val="693EB4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Highly Affected</a:t>
            </a:r>
          </a:p>
          <a:p>
            <a:pPr marL="388618" lvl="1" indent="-194309" algn="just">
              <a:lnSpc>
                <a:spcPts val="2879"/>
              </a:lnSpc>
              <a:buFont typeface="Arial"/>
              <a:buChar char="•"/>
            </a:pPr>
            <a:r>
              <a:rPr lang="en-US" sz="1799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Plan </a:t>
            </a:r>
            <a:r>
              <a:rPr lang="en-US" sz="1799" b="1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p7 </a:t>
            </a:r>
            <a:r>
              <a:rPr lang="en-US" sz="1799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saw the biggest revenue drop, reflecting lower demand for legacy 3G/4G data packs.</a:t>
            </a:r>
          </a:p>
          <a:p>
            <a:pPr marL="388618" lvl="1" indent="-194309" algn="just">
              <a:lnSpc>
                <a:spcPts val="2879"/>
              </a:lnSpc>
              <a:buFont typeface="Arial"/>
              <a:buChar char="•"/>
            </a:pPr>
            <a:r>
              <a:rPr lang="en-US" sz="1799" b="1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Plan 4 </a:t>
            </a:r>
            <a:r>
              <a:rPr lang="en-US" sz="1799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faced a significant decline, indicating reduced interest in low-data packs.</a:t>
            </a:r>
          </a:p>
          <a:p>
            <a:pPr marL="388618" lvl="1" indent="-194309" algn="just">
              <a:lnSpc>
                <a:spcPts val="2879"/>
              </a:lnSpc>
              <a:buFont typeface="Arial"/>
              <a:buChar char="•"/>
            </a:pPr>
            <a:r>
              <a:rPr lang="en-US" sz="1799" b="1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Plan 5</a:t>
            </a:r>
            <a:r>
              <a:rPr lang="en-US" sz="1799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and </a:t>
            </a:r>
            <a:r>
              <a:rPr lang="en-US" sz="1799" b="1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Plan 6</a:t>
            </a:r>
            <a:r>
              <a:rPr lang="en-US" sz="1799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experienced a revenue dip, as users shifted to higher data and 5G-enabled plans.</a:t>
            </a:r>
          </a:p>
        </p:txBody>
      </p:sp>
      <p:sp>
        <p:nvSpPr>
          <p:cNvPr id="4" name="Freeform 4"/>
          <p:cNvSpPr/>
          <p:nvPr/>
        </p:nvSpPr>
        <p:spPr>
          <a:xfrm>
            <a:off x="2661550" y="5690304"/>
            <a:ext cx="5345119" cy="1652227"/>
          </a:xfrm>
          <a:custGeom>
            <a:avLst/>
            <a:gdLst/>
            <a:ahLst/>
            <a:cxnLst/>
            <a:rect l="l" t="t" r="r" b="b"/>
            <a:pathLst>
              <a:path w="5345119" h="1652227">
                <a:moveTo>
                  <a:pt x="0" y="0"/>
                </a:moveTo>
                <a:lnTo>
                  <a:pt x="5345119" y="0"/>
                </a:lnTo>
                <a:lnTo>
                  <a:pt x="5345119" y="1652227"/>
                </a:lnTo>
                <a:lnTo>
                  <a:pt x="0" y="16522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0345406" y="2553202"/>
            <a:ext cx="6913894" cy="21375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74"/>
              </a:lnSpc>
            </a:pPr>
            <a:r>
              <a:rPr lang="en-US" sz="1796" b="1" u="none" strike="noStrike" dirty="0">
                <a:solidFill>
                  <a:srgbClr val="693EB4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Recommendation</a:t>
            </a:r>
          </a:p>
          <a:p>
            <a:pPr marL="387831" lvl="1" indent="-193916" algn="just">
              <a:lnSpc>
                <a:spcPts val="2874"/>
              </a:lnSpc>
              <a:buFont typeface="Arial"/>
              <a:buChar char="•"/>
            </a:pPr>
            <a:r>
              <a:rPr lang="en-US" sz="1796" b="1" u="none" strike="noStrike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Plan 7</a:t>
            </a:r>
            <a:r>
              <a:rPr lang="en-US" sz="1796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: Discontinue or upgrade to a higher data pack for 5G.</a:t>
            </a:r>
          </a:p>
          <a:p>
            <a:pPr marL="387831" lvl="1" indent="-193916" algn="just">
              <a:lnSpc>
                <a:spcPts val="2874"/>
              </a:lnSpc>
              <a:buFont typeface="Arial"/>
              <a:buChar char="•"/>
            </a:pPr>
            <a:r>
              <a:rPr lang="en-US" sz="1796" b="1" u="none" strike="noStrike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Plan 4</a:t>
            </a:r>
            <a:r>
              <a:rPr lang="en-US" sz="1796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: Enhance with more data benefits to compete in the 5G market.</a:t>
            </a:r>
          </a:p>
          <a:p>
            <a:pPr marL="387831" lvl="1" indent="-193916" algn="just">
              <a:lnSpc>
                <a:spcPts val="2874"/>
              </a:lnSpc>
              <a:buFont typeface="Arial"/>
              <a:buChar char="•"/>
            </a:pPr>
            <a:r>
              <a:rPr lang="en-US" sz="1796" b="1" u="none" strike="noStrike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Plans 5 &amp; 6</a:t>
            </a:r>
            <a:r>
              <a:rPr lang="en-US" sz="1796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: Continue with improved data offerings to align with 5G demand.</a:t>
            </a:r>
          </a:p>
        </p:txBody>
      </p:sp>
      <p:sp>
        <p:nvSpPr>
          <p:cNvPr id="6" name="Freeform 6"/>
          <p:cNvSpPr/>
          <p:nvPr/>
        </p:nvSpPr>
        <p:spPr>
          <a:xfrm>
            <a:off x="8910154" y="7554712"/>
            <a:ext cx="5434367" cy="1626384"/>
          </a:xfrm>
          <a:custGeom>
            <a:avLst/>
            <a:gdLst/>
            <a:ahLst/>
            <a:cxnLst/>
            <a:rect l="l" t="t" r="r" b="b"/>
            <a:pathLst>
              <a:path w="5434367" h="1626384">
                <a:moveTo>
                  <a:pt x="0" y="0"/>
                </a:moveTo>
                <a:lnTo>
                  <a:pt x="5434367" y="0"/>
                </a:lnTo>
                <a:lnTo>
                  <a:pt x="5434367" y="1626384"/>
                </a:lnTo>
                <a:lnTo>
                  <a:pt x="0" y="16263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8910154" y="5690304"/>
            <a:ext cx="5434367" cy="1652227"/>
          </a:xfrm>
          <a:custGeom>
            <a:avLst/>
            <a:gdLst/>
            <a:ahLst/>
            <a:cxnLst/>
            <a:rect l="l" t="t" r="r" b="b"/>
            <a:pathLst>
              <a:path w="5434367" h="1652227">
                <a:moveTo>
                  <a:pt x="0" y="0"/>
                </a:moveTo>
                <a:lnTo>
                  <a:pt x="5434367" y="0"/>
                </a:lnTo>
                <a:lnTo>
                  <a:pt x="5434367" y="1652227"/>
                </a:lnTo>
                <a:lnTo>
                  <a:pt x="0" y="165222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2661550" y="7554712"/>
            <a:ext cx="5345119" cy="1627255"/>
          </a:xfrm>
          <a:custGeom>
            <a:avLst/>
            <a:gdLst/>
            <a:ahLst/>
            <a:cxnLst/>
            <a:rect l="l" t="t" r="r" b="b"/>
            <a:pathLst>
              <a:path w="5345119" h="1627255">
                <a:moveTo>
                  <a:pt x="0" y="0"/>
                </a:moveTo>
                <a:lnTo>
                  <a:pt x="5345119" y="0"/>
                </a:lnTo>
                <a:lnTo>
                  <a:pt x="5345119" y="1627255"/>
                </a:lnTo>
                <a:lnTo>
                  <a:pt x="0" y="1627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232506" y="1009650"/>
            <a:ext cx="9822988" cy="462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740"/>
              </a:lnSpc>
              <a:spcBef>
                <a:spcPct val="0"/>
              </a:spcBef>
            </a:pPr>
            <a:r>
              <a:rPr lang="en-US" sz="2922" b="1" spc="292" dirty="0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5. Plans Di</a:t>
            </a:r>
            <a:r>
              <a:rPr lang="en-US" sz="2922" b="1" u="none" strike="noStrike" spc="292" dirty="0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scontinued After the 5G Launch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230106" y="2734177"/>
            <a:ext cx="8115300" cy="327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4"/>
              </a:lnSpc>
            </a:pPr>
            <a:r>
              <a:rPr lang="en-US" sz="1796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Plans </a:t>
            </a:r>
            <a:r>
              <a:rPr lang="en-US" sz="1796" b="1" u="none" strike="noStrike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p8, p9, p10</a:t>
            </a:r>
            <a:r>
              <a:rPr lang="en-US" sz="1796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: These plans generated no revenue after the 5G launch.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230106" y="3381421"/>
            <a:ext cx="15029194" cy="1051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74"/>
              </a:lnSpc>
            </a:pPr>
            <a:r>
              <a:rPr lang="en-US" sz="1796" b="1" u="none" strike="noStrike" dirty="0">
                <a:solidFill>
                  <a:srgbClr val="693EB4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Reason</a:t>
            </a:r>
          </a:p>
          <a:p>
            <a:pPr marL="387831" lvl="1" indent="-193916" algn="just">
              <a:lnSpc>
                <a:spcPts val="2874"/>
              </a:lnSpc>
              <a:buFont typeface="Arial"/>
              <a:buChar char="•"/>
            </a:pPr>
            <a:r>
              <a:rPr lang="en-US" sz="1796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These plans had low demand due to their limited data, short validity, and misalignment with 5G usage trends. </a:t>
            </a:r>
          </a:p>
          <a:p>
            <a:pPr marL="387831" lvl="1" indent="-193916" algn="just">
              <a:lnSpc>
                <a:spcPts val="2874"/>
              </a:lnSpc>
              <a:buFont typeface="Arial"/>
              <a:buChar char="•"/>
            </a:pPr>
            <a:r>
              <a:rPr lang="en-US" sz="1796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Customers now prefer longer validity and higher data offerings, aligning with 5G capabilities.</a:t>
            </a:r>
          </a:p>
        </p:txBody>
      </p:sp>
      <p:sp>
        <p:nvSpPr>
          <p:cNvPr id="5" name="Freeform 5"/>
          <p:cNvSpPr/>
          <p:nvPr/>
        </p:nvSpPr>
        <p:spPr>
          <a:xfrm>
            <a:off x="2230106" y="5143500"/>
            <a:ext cx="5875536" cy="1802312"/>
          </a:xfrm>
          <a:custGeom>
            <a:avLst/>
            <a:gdLst/>
            <a:ahLst/>
            <a:cxnLst/>
            <a:rect l="l" t="t" r="r" b="b"/>
            <a:pathLst>
              <a:path w="5875536" h="1802312">
                <a:moveTo>
                  <a:pt x="0" y="0"/>
                </a:moveTo>
                <a:lnTo>
                  <a:pt x="5875536" y="0"/>
                </a:lnTo>
                <a:lnTo>
                  <a:pt x="5875536" y="1802312"/>
                </a:lnTo>
                <a:lnTo>
                  <a:pt x="0" y="180231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262431" y="7167078"/>
            <a:ext cx="5937289" cy="1818903"/>
          </a:xfrm>
          <a:custGeom>
            <a:avLst/>
            <a:gdLst/>
            <a:ahLst/>
            <a:cxnLst/>
            <a:rect l="l" t="t" r="r" b="b"/>
            <a:pathLst>
              <a:path w="5937289" h="1818903">
                <a:moveTo>
                  <a:pt x="0" y="0"/>
                </a:moveTo>
                <a:lnTo>
                  <a:pt x="5937289" y="0"/>
                </a:lnTo>
                <a:lnTo>
                  <a:pt x="5937289" y="1818903"/>
                </a:lnTo>
                <a:lnTo>
                  <a:pt x="0" y="1818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2230106" y="7167078"/>
            <a:ext cx="5875536" cy="1818903"/>
          </a:xfrm>
          <a:custGeom>
            <a:avLst/>
            <a:gdLst/>
            <a:ahLst/>
            <a:cxnLst/>
            <a:rect l="l" t="t" r="r" b="b"/>
            <a:pathLst>
              <a:path w="5875536" h="1818903">
                <a:moveTo>
                  <a:pt x="0" y="0"/>
                </a:moveTo>
                <a:lnTo>
                  <a:pt x="5875536" y="0"/>
                </a:lnTo>
                <a:lnTo>
                  <a:pt x="5875536" y="1818903"/>
                </a:lnTo>
                <a:lnTo>
                  <a:pt x="0" y="18189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5716277"/>
            <a:ext cx="8433387" cy="3542023"/>
          </a:xfrm>
          <a:custGeom>
            <a:avLst/>
            <a:gdLst/>
            <a:ahLst/>
            <a:cxnLst/>
            <a:rect l="l" t="t" r="r" b="b"/>
            <a:pathLst>
              <a:path w="8433387" h="3542023">
                <a:moveTo>
                  <a:pt x="0" y="0"/>
                </a:moveTo>
                <a:lnTo>
                  <a:pt x="8433387" y="0"/>
                </a:lnTo>
                <a:lnTo>
                  <a:pt x="8433387" y="3542023"/>
                </a:lnTo>
                <a:lnTo>
                  <a:pt x="0" y="35420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4232506" y="1009650"/>
            <a:ext cx="9822988" cy="4683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740"/>
              </a:lnSpc>
              <a:spcBef>
                <a:spcPct val="0"/>
              </a:spcBef>
            </a:pPr>
            <a:r>
              <a:rPr lang="en-US" sz="2922" b="1" spc="292" dirty="0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6. W</a:t>
            </a:r>
            <a:r>
              <a:rPr lang="en-US" sz="2922" b="1" u="none" strike="noStrike" spc="292" dirty="0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avecon Market Share vs Competitors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2209021"/>
            <a:ext cx="7256491" cy="2861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80"/>
              </a:lnSpc>
            </a:pPr>
            <a:r>
              <a:rPr lang="en-US" sz="1800" b="1" dirty="0">
                <a:solidFill>
                  <a:srgbClr val="693EB4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Observations:</a:t>
            </a:r>
          </a:p>
          <a:p>
            <a:pPr algn="just">
              <a:lnSpc>
                <a:spcPts val="2880"/>
              </a:lnSpc>
            </a:pPr>
            <a:endParaRPr lang="en-US" sz="1800" b="1" dirty="0">
              <a:solidFill>
                <a:srgbClr val="693EB4"/>
              </a:solidFill>
              <a:latin typeface="Open Sans 2 Bold"/>
              <a:ea typeface="Open Sans 2 Bold"/>
              <a:cs typeface="Open Sans 2 Bold"/>
              <a:sym typeface="Open Sans 2 Bold"/>
            </a:endParaRPr>
          </a:p>
          <a:p>
            <a:pPr marL="388620" lvl="1" indent="-194310" algn="just">
              <a:lnSpc>
                <a:spcPts val="2880"/>
              </a:lnSpc>
              <a:buFont typeface="Arial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Wavecon </a:t>
            </a:r>
            <a:r>
              <a:rPr lang="en-US" sz="1800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held a moderate market share (~18-20%), st</a:t>
            </a:r>
            <a:r>
              <a:rPr lang="en-US" sz="1800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aying behind </a:t>
            </a:r>
            <a:r>
              <a:rPr lang="en-US" sz="1800" b="1" u="none" strike="noStrike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PIO</a:t>
            </a:r>
            <a:r>
              <a:rPr lang="en-US" sz="1800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, the market leader (~35-37%).</a:t>
            </a:r>
          </a:p>
          <a:p>
            <a:pPr marL="388620" lvl="1" indent="-194310" algn="just">
              <a:lnSpc>
                <a:spcPts val="2880"/>
              </a:lnSpc>
              <a:buFont typeface="Arial"/>
              <a:buChar char="•"/>
            </a:pPr>
            <a:r>
              <a:rPr lang="en-US" sz="1800" b="1" u="none" strike="noStrike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PIO </a:t>
            </a:r>
            <a:r>
              <a:rPr lang="en-US" sz="1800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showed strong growth in market share post-5G, while </a:t>
            </a:r>
            <a:r>
              <a:rPr lang="en-US" sz="1800" b="1" u="none" strike="noStrike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Wavecon's </a:t>
            </a:r>
            <a:r>
              <a:rPr lang="en-US" sz="1800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share remained largely stable.</a:t>
            </a:r>
          </a:p>
          <a:p>
            <a:pPr marL="388620" lvl="1" indent="-194310" algn="just">
              <a:lnSpc>
                <a:spcPts val="2880"/>
              </a:lnSpc>
              <a:buFont typeface="Arial"/>
              <a:buChar char="•"/>
            </a:pPr>
            <a:r>
              <a:rPr lang="en-US" sz="1800" b="1" u="none" strike="noStrike" dirty="0" err="1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Britel</a:t>
            </a:r>
            <a:r>
              <a:rPr lang="en-US" sz="1800" b="1" u="none" strike="noStrike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 </a:t>
            </a:r>
            <a:r>
              <a:rPr lang="en-US" sz="1800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and </a:t>
            </a:r>
            <a:r>
              <a:rPr lang="en-US" sz="1800" b="1" u="none" strike="noStrike" dirty="0" err="1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Dadafone</a:t>
            </a:r>
            <a:r>
              <a:rPr lang="en-US" sz="1800" b="1" u="none" strike="noStrike" dirty="0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 </a:t>
            </a:r>
            <a:r>
              <a:rPr lang="en-US" sz="1800" u="none" strike="noStrike" dirty="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showed minimal changes in their market share.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144000" y="2209021"/>
            <a:ext cx="8115300" cy="3223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80"/>
              </a:lnSpc>
            </a:pPr>
            <a:r>
              <a:rPr lang="en-US" sz="1800" b="1">
                <a:solidFill>
                  <a:srgbClr val="693EB4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Insights:</a:t>
            </a:r>
          </a:p>
          <a:p>
            <a:pPr algn="just">
              <a:lnSpc>
                <a:spcPts val="2880"/>
              </a:lnSpc>
            </a:pPr>
            <a:endParaRPr lang="en-US" sz="1800" b="1">
              <a:solidFill>
                <a:srgbClr val="693EB4"/>
              </a:solidFill>
              <a:latin typeface="Open Sans 2 Bold"/>
              <a:ea typeface="Open Sans 2 Bold"/>
              <a:cs typeface="Open Sans 2 Bold"/>
              <a:sym typeface="Open Sans 2 Bold"/>
            </a:endParaRPr>
          </a:p>
          <a:p>
            <a:pPr marL="388620" lvl="1" indent="-194310" algn="just">
              <a:lnSpc>
                <a:spcPts val="2880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Wavecon's 5G launch increased </a:t>
            </a:r>
            <a:r>
              <a:rPr lang="en-US" sz="1800" b="1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ARPU</a:t>
            </a:r>
            <a:r>
              <a:rPr lang="en-US" sz="180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 but failed to prevent </a:t>
            </a:r>
            <a:r>
              <a:rPr lang="en-US" sz="1800" b="1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customer churn</a:t>
            </a:r>
            <a:r>
              <a:rPr lang="en-US" sz="180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.</a:t>
            </a:r>
          </a:p>
          <a:p>
            <a:pPr marL="388620" lvl="1" indent="-194310" algn="just">
              <a:lnSpc>
                <a:spcPts val="2880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Although W</a:t>
            </a:r>
            <a:r>
              <a:rPr lang="en-US" sz="1800" u="none" strike="noStrike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avecon saw stability in market share, it lagged behind PIO, highlighting the need for stronger 5G adoption and enhanced offerings.</a:t>
            </a:r>
          </a:p>
          <a:p>
            <a:pPr marL="388620" lvl="1" indent="-194310" algn="just">
              <a:lnSpc>
                <a:spcPts val="2880"/>
              </a:lnSpc>
              <a:buFont typeface="Arial"/>
              <a:buChar char="•"/>
            </a:pPr>
            <a:r>
              <a:rPr lang="en-US" sz="1800" u="none" strike="noStrike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Wavecon's focus should shift towards expanding 5G adoption and increasing competitive advantages to capture market share from PIO and others.</a:t>
            </a:r>
          </a:p>
        </p:txBody>
      </p:sp>
    </p:spTree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695878" y="1009650"/>
            <a:ext cx="10896244" cy="462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3740"/>
              </a:lnSpc>
              <a:spcBef>
                <a:spcPct val="0"/>
              </a:spcBef>
            </a:pPr>
            <a:r>
              <a:rPr lang="en-US" sz="2922" b="1" spc="292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K</a:t>
            </a:r>
            <a:r>
              <a:rPr lang="en-US" sz="2922" b="1" u="none" strike="noStrike" spc="292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ey Takeaways &amp; Strategic Recommendations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469215" y="2189971"/>
            <a:ext cx="15349569" cy="2374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199"/>
              </a:lnSpc>
            </a:pPr>
            <a:r>
              <a:rPr lang="en-US" sz="1999" b="1">
                <a:solidFill>
                  <a:srgbClr val="693EB4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Key Takeaways:</a:t>
            </a:r>
          </a:p>
          <a:p>
            <a:pPr algn="just">
              <a:lnSpc>
                <a:spcPts val="3199"/>
              </a:lnSpc>
            </a:pPr>
            <a:endParaRPr lang="en-US" sz="1999" b="1">
              <a:solidFill>
                <a:srgbClr val="693EB4"/>
              </a:solidFill>
              <a:latin typeface="Open Sans 2 Bold"/>
              <a:ea typeface="Open Sans 2 Bold"/>
              <a:cs typeface="Open Sans 2 Bold"/>
              <a:sym typeface="Open Sans 2 Bold"/>
            </a:endParaRPr>
          </a:p>
          <a:p>
            <a:pPr marL="431799" lvl="1" indent="-215899" algn="just">
              <a:lnSpc>
                <a:spcPts val="3199"/>
              </a:lnSpc>
              <a:buFont typeface="Arial"/>
              <a:buChar char="•"/>
            </a:pPr>
            <a:r>
              <a:rPr lang="en-US" sz="1999" b="1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Revenue stability</a:t>
            </a:r>
            <a:r>
              <a:rPr lang="en-US" sz="1999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: Revenue slightly declined by 0.5%, showing minimal immediate impact from 5G launch.</a:t>
            </a:r>
          </a:p>
          <a:p>
            <a:pPr marL="431799" lvl="1" indent="-215899" algn="just">
              <a:lnSpc>
                <a:spcPts val="3199"/>
              </a:lnSpc>
              <a:buFont typeface="Arial"/>
              <a:buChar char="•"/>
            </a:pPr>
            <a:r>
              <a:rPr lang="en-US" sz="1999" b="1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Market position</a:t>
            </a:r>
            <a:r>
              <a:rPr lang="en-US" sz="1999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: Wavecon holds 18-20% market share, tr</a:t>
            </a:r>
            <a:r>
              <a:rPr lang="en-US" sz="1999" u="none" strike="noStrike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ailing behind PIO, the market leader.</a:t>
            </a:r>
          </a:p>
          <a:p>
            <a:pPr marL="431799" lvl="1" indent="-215899" algn="just">
              <a:lnSpc>
                <a:spcPts val="3199"/>
              </a:lnSpc>
              <a:buFont typeface="Arial"/>
              <a:buChar char="•"/>
            </a:pPr>
            <a:r>
              <a:rPr lang="en-US" sz="1999" b="1" u="none" strike="noStrike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Plan performance</a:t>
            </a:r>
            <a:r>
              <a:rPr lang="en-US" sz="1999" u="none" strike="noStrike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: High-data and long-validity plans performed well, while low-data and short-term plans underperformed.</a:t>
            </a:r>
          </a:p>
          <a:p>
            <a:pPr marL="431799" lvl="1" indent="-215899" algn="just">
              <a:lnSpc>
                <a:spcPts val="3199"/>
              </a:lnSpc>
              <a:buFont typeface="Arial"/>
              <a:buChar char="•"/>
            </a:pPr>
            <a:r>
              <a:rPr lang="en-US" sz="1999" b="1" u="none" strike="noStrike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Customer churn</a:t>
            </a:r>
            <a:r>
              <a:rPr lang="en-US" sz="1999" u="none" strike="noStrike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: A decrease in active users after the 5G launch signals need for improved customer engagement.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69215" y="5530215"/>
            <a:ext cx="15077250" cy="2374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199"/>
              </a:lnSpc>
            </a:pPr>
            <a:r>
              <a:rPr lang="en-US" sz="1999" b="1">
                <a:solidFill>
                  <a:srgbClr val="693EB4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Recommendations:</a:t>
            </a:r>
          </a:p>
          <a:p>
            <a:pPr algn="just">
              <a:lnSpc>
                <a:spcPts val="3199"/>
              </a:lnSpc>
            </a:pPr>
            <a:endParaRPr lang="en-US" sz="1999" b="1">
              <a:solidFill>
                <a:srgbClr val="693EB4"/>
              </a:solidFill>
              <a:latin typeface="Open Sans 2 Bold"/>
              <a:ea typeface="Open Sans 2 Bold"/>
              <a:cs typeface="Open Sans 2 Bold"/>
              <a:sym typeface="Open Sans 2 Bold"/>
            </a:endParaRPr>
          </a:p>
          <a:p>
            <a:pPr marL="431799" lvl="1" indent="-215899" algn="just">
              <a:lnSpc>
                <a:spcPts val="3199"/>
              </a:lnSpc>
              <a:buFont typeface="Arial"/>
              <a:buChar char="•"/>
            </a:pPr>
            <a:r>
              <a:rPr lang="en-US" sz="1999" b="1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Focus on high-data plans</a:t>
            </a:r>
            <a:r>
              <a:rPr lang="en-US" sz="1999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: Continue and upgrade high-data and long-validity plans to capture 5G demand.</a:t>
            </a:r>
          </a:p>
          <a:p>
            <a:pPr marL="431799" lvl="1" indent="-215899" algn="just">
              <a:lnSpc>
                <a:spcPts val="3199"/>
              </a:lnSpc>
              <a:buFont typeface="Arial"/>
              <a:buChar char="•"/>
            </a:pPr>
            <a:r>
              <a:rPr lang="en-US" sz="1999" b="1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Enhance customer eng</a:t>
            </a:r>
            <a:r>
              <a:rPr lang="en-US" sz="1999" b="1" u="none" strike="noStrike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agement</a:t>
            </a:r>
            <a:r>
              <a:rPr lang="en-US" sz="1999" u="none" strike="noStrike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: Invest in retention strategies to counteract customer churn.</a:t>
            </a:r>
          </a:p>
          <a:p>
            <a:pPr marL="431799" lvl="1" indent="-215899" algn="just">
              <a:lnSpc>
                <a:spcPts val="3199"/>
              </a:lnSpc>
              <a:buFont typeface="Arial"/>
              <a:buChar char="•"/>
            </a:pPr>
            <a:r>
              <a:rPr lang="en-US" sz="1999" b="1" u="none" strike="noStrike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Revise low-data plans</a:t>
            </a:r>
            <a:r>
              <a:rPr lang="en-US" sz="1999" u="none" strike="noStrike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: Discontinue or improve low-data and short-term plans to align with 5G trends.</a:t>
            </a:r>
          </a:p>
          <a:p>
            <a:pPr marL="431799" lvl="1" indent="-215899" algn="just">
              <a:lnSpc>
                <a:spcPts val="3199"/>
              </a:lnSpc>
              <a:buFont typeface="Arial"/>
              <a:buChar char="•"/>
            </a:pPr>
            <a:r>
              <a:rPr lang="en-US" sz="1999" b="1" u="none" strike="noStrike">
                <a:solidFill>
                  <a:srgbClr val="000000"/>
                </a:solidFill>
                <a:latin typeface="Open Sans 2 Bold"/>
                <a:ea typeface="Open Sans 2 Bold"/>
                <a:cs typeface="Open Sans 2 Bold"/>
                <a:sym typeface="Open Sans 2 Bold"/>
              </a:rPr>
              <a:t>Differentiate 5G offerings</a:t>
            </a:r>
            <a:r>
              <a:rPr lang="en-US" sz="1999" u="none" strike="noStrike">
                <a:solidFill>
                  <a:srgbClr val="000000"/>
                </a:solidFill>
                <a:latin typeface="Open Sans 2"/>
                <a:ea typeface="Open Sans 2"/>
                <a:cs typeface="Open Sans 2"/>
                <a:sym typeface="Open Sans 2"/>
              </a:rPr>
              <a:t>: Strengthen 5G features to compete more effectively against market leaders.</a:t>
            </a:r>
          </a:p>
        </p:txBody>
      </p:sp>
    </p:spTree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4971714" y="-318206"/>
            <a:ext cx="8344571" cy="19153012"/>
            <a:chOff x="0" y="0"/>
            <a:chExt cx="2197747" cy="504441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97747" cy="5044415"/>
            </a:xfrm>
            <a:custGeom>
              <a:avLst/>
              <a:gdLst/>
              <a:ahLst/>
              <a:cxnLst/>
              <a:rect l="l" t="t" r="r" b="b"/>
              <a:pathLst>
                <a:path w="2197747" h="5044415">
                  <a:moveTo>
                    <a:pt x="0" y="0"/>
                  </a:moveTo>
                  <a:lnTo>
                    <a:pt x="2197747" y="0"/>
                  </a:lnTo>
                  <a:lnTo>
                    <a:pt x="2197747" y="5044415"/>
                  </a:lnTo>
                  <a:lnTo>
                    <a:pt x="0" y="5044415"/>
                  </a:lnTo>
                  <a:close/>
                </a:path>
              </a:pathLst>
            </a:custGeom>
            <a:solidFill>
              <a:srgbClr val="EFEFEF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197747" cy="51015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500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790474" y="3626719"/>
            <a:ext cx="14783251" cy="4375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</a:pPr>
            <a:endParaRPr/>
          </a:p>
          <a:p>
            <a:pPr marL="0" lvl="0" indent="0" algn="l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545454"/>
                </a:solidFill>
                <a:latin typeface="Open Sans 1"/>
                <a:ea typeface="Open Sans 1"/>
                <a:cs typeface="Open Sans 1"/>
                <a:sym typeface="Open Sans 1"/>
              </a:rPr>
              <a:t>For your time and att</a:t>
            </a:r>
            <a:r>
              <a:rPr lang="en-US" sz="2500" u="none" strike="noStrike">
                <a:solidFill>
                  <a:srgbClr val="545454"/>
                </a:solidFill>
                <a:latin typeface="Open Sans 1"/>
                <a:ea typeface="Open Sans 1"/>
                <a:cs typeface="Open Sans 1"/>
                <a:sym typeface="Open Sans 1"/>
              </a:rPr>
              <a:t>ention.</a:t>
            </a:r>
          </a:p>
          <a:p>
            <a:pPr marL="0" lvl="0" indent="0" algn="l">
              <a:lnSpc>
                <a:spcPts val="3500"/>
              </a:lnSpc>
              <a:spcBef>
                <a:spcPct val="0"/>
              </a:spcBef>
            </a:pPr>
            <a:r>
              <a:rPr lang="en-US" sz="2500" u="none" strike="noStrike">
                <a:solidFill>
                  <a:srgbClr val="545454"/>
                </a:solidFill>
                <a:latin typeface="Open Sans 1"/>
                <a:ea typeface="Open Sans 1"/>
                <a:cs typeface="Open Sans 1"/>
                <a:sym typeface="Open Sans 1"/>
              </a:rPr>
              <a:t>Should you have any questions or require further clarification, please feel free to reach out.</a:t>
            </a:r>
          </a:p>
          <a:p>
            <a:pPr marL="0" lvl="0" indent="0" algn="l">
              <a:lnSpc>
                <a:spcPts val="3500"/>
              </a:lnSpc>
              <a:spcBef>
                <a:spcPct val="0"/>
              </a:spcBef>
            </a:pPr>
            <a:endParaRPr lang="en-US" sz="2500" u="none" strike="noStrike">
              <a:solidFill>
                <a:srgbClr val="545454"/>
              </a:solidFill>
              <a:latin typeface="Open Sans 1"/>
              <a:ea typeface="Open Sans 1"/>
              <a:cs typeface="Open Sans 1"/>
              <a:sym typeface="Open Sans 1"/>
            </a:endParaRPr>
          </a:p>
          <a:p>
            <a:pPr marL="0" lvl="0" indent="0" algn="l">
              <a:lnSpc>
                <a:spcPts val="3500"/>
              </a:lnSpc>
              <a:spcBef>
                <a:spcPct val="0"/>
              </a:spcBef>
            </a:pPr>
            <a:endParaRPr lang="en-US" sz="2500" u="none" strike="noStrike">
              <a:solidFill>
                <a:srgbClr val="545454"/>
              </a:solidFill>
              <a:latin typeface="Open Sans 1"/>
              <a:ea typeface="Open Sans 1"/>
              <a:cs typeface="Open Sans 1"/>
              <a:sym typeface="Open Sans 1"/>
            </a:endParaRPr>
          </a:p>
          <a:p>
            <a:pPr marL="0" lvl="0" indent="0" algn="l">
              <a:lnSpc>
                <a:spcPts val="3500"/>
              </a:lnSpc>
              <a:spcBef>
                <a:spcPct val="0"/>
              </a:spcBef>
            </a:pPr>
            <a:endParaRPr lang="en-US" sz="2500" u="none" strike="noStrike">
              <a:solidFill>
                <a:srgbClr val="545454"/>
              </a:solidFill>
              <a:latin typeface="Open Sans 1"/>
              <a:ea typeface="Open Sans 1"/>
              <a:cs typeface="Open Sans 1"/>
              <a:sym typeface="Open Sans 1"/>
            </a:endParaRPr>
          </a:p>
          <a:p>
            <a:pPr marL="0" lvl="0" indent="0" algn="l">
              <a:lnSpc>
                <a:spcPts val="3500"/>
              </a:lnSpc>
              <a:spcBef>
                <a:spcPct val="0"/>
              </a:spcBef>
            </a:pPr>
            <a:endParaRPr lang="en-US" sz="2500" u="none" strike="noStrike">
              <a:solidFill>
                <a:srgbClr val="545454"/>
              </a:solidFill>
              <a:latin typeface="Open Sans 1"/>
              <a:ea typeface="Open Sans 1"/>
              <a:cs typeface="Open Sans 1"/>
              <a:sym typeface="Open Sans 1"/>
            </a:endParaRPr>
          </a:p>
          <a:p>
            <a:pPr marL="0" lvl="0" indent="0" algn="l">
              <a:lnSpc>
                <a:spcPts val="3500"/>
              </a:lnSpc>
              <a:spcBef>
                <a:spcPct val="0"/>
              </a:spcBef>
            </a:pPr>
            <a:r>
              <a:rPr lang="en-US" sz="2500" u="none" strike="noStrike">
                <a:solidFill>
                  <a:srgbClr val="545454"/>
                </a:solidFill>
                <a:latin typeface="Open Sans 1"/>
                <a:ea typeface="Open Sans 1"/>
                <a:cs typeface="Open Sans 1"/>
                <a:sym typeface="Open Sans 1"/>
              </a:rPr>
              <a:t>Alisha Mahanty</a:t>
            </a:r>
          </a:p>
          <a:p>
            <a:pPr marL="0" lvl="0" indent="0" algn="l">
              <a:lnSpc>
                <a:spcPts val="3500"/>
              </a:lnSpc>
              <a:spcBef>
                <a:spcPct val="0"/>
              </a:spcBef>
            </a:pPr>
            <a:r>
              <a:rPr lang="en-US" sz="2500" u="none" strike="noStrike">
                <a:solidFill>
                  <a:srgbClr val="545454"/>
                </a:solidFill>
                <a:latin typeface="Open Sans 1"/>
                <a:ea typeface="Open Sans 1"/>
                <a:cs typeface="Open Sans 1"/>
                <a:sym typeface="Open Sans 1"/>
              </a:rPr>
              <a:t>Data Analyst Intern – AtliQ Technologies</a:t>
            </a:r>
          </a:p>
          <a:p>
            <a:pPr marL="0" lvl="0" indent="0" algn="l">
              <a:lnSpc>
                <a:spcPts val="3500"/>
              </a:lnSpc>
              <a:spcBef>
                <a:spcPct val="0"/>
              </a:spcBef>
            </a:pPr>
            <a:endParaRPr lang="en-US" sz="2500" u="none" strike="noStrike">
              <a:solidFill>
                <a:srgbClr val="545454"/>
              </a:solidFill>
              <a:latin typeface="Open Sans 1"/>
              <a:ea typeface="Open Sans 1"/>
              <a:cs typeface="Open Sans 1"/>
              <a:sym typeface="Open Sans 1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752374" y="1597259"/>
            <a:ext cx="7698763" cy="2086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8319"/>
              </a:lnSpc>
              <a:spcBef>
                <a:spcPct val="0"/>
              </a:spcBef>
            </a:pPr>
            <a:r>
              <a:rPr lang="en-US" sz="6499" b="1" u="none" strike="noStrike" spc="2957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THANK YOU</a:t>
            </a:r>
          </a:p>
        </p:txBody>
      </p: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907</Words>
  <Application>Microsoft Office PowerPoint</Application>
  <PresentationFormat>Custom</PresentationFormat>
  <Paragraphs>100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Open Sans 1</vt:lpstr>
      <vt:lpstr>Arial</vt:lpstr>
      <vt:lpstr>Open Sans 2 Bold</vt:lpstr>
      <vt:lpstr>Gagalin</vt:lpstr>
      <vt:lpstr>Open Sans 2</vt:lpstr>
      <vt:lpstr>Garet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Gray Simple Project Presentation Presentation</dc:title>
  <dc:creator>Alisha Mahanty</dc:creator>
  <cp:lastModifiedBy>Alisha Mahanty</cp:lastModifiedBy>
  <cp:revision>6</cp:revision>
  <dcterms:created xsi:type="dcterms:W3CDTF">2006-08-16T00:00:00Z</dcterms:created>
  <dcterms:modified xsi:type="dcterms:W3CDTF">2026-04-21T02:03:34Z</dcterms:modified>
  <dc:identifier>DAHEF9Di6V0</dc:identifier>
</cp:coreProperties>
</file>